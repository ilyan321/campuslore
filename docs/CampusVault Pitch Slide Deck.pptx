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62512" y="2045940"/>
            <a:ext cx="2466975" cy="342900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4402335"/>
            <a:ext cx="3502152" cy="409575"/>
          </a:xfrm>
          <a:prstGeom prst="roundRect">
            <a:avLst>
              <a:gd name="adj" fmla="val 1395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526160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44640" y="2122140"/>
            <a:ext cx="27027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HACKATHON FINALIST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04812" y="2626965"/>
            <a:ext cx="13001625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CampusVault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5843" y="3487935"/>
            <a:ext cx="1012031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The Grounded Knowledge Engine — Agentic RAG Engineered for University Exam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4497585"/>
            <a:ext cx="292608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Inter"/>
              </a:rPr>
              <a:t>campusvault.ilyankhan.tech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83073" y="2905125"/>
            <a:ext cx="6825853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Space Grotesk"/>
              </a:rPr>
              <a:t>Meet the Innovators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724275"/>
            <a:ext cx="8334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The engineering team behind the zero-hallucination academic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71725"/>
            <a:ext cx="5357812" cy="2838450"/>
          </a:xfrm>
          <a:prstGeom prst="roundRect">
            <a:avLst>
              <a:gd name="adj" fmla="val 4026"/>
            </a:avLst>
          </a:prstGeom>
          <a:solidFill>
            <a:srgbClr val="182130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62687" y="2371725"/>
            <a:ext cx="5357812" cy="2838450"/>
          </a:xfrm>
          <a:prstGeom prst="roundRect">
            <a:avLst>
              <a:gd name="adj" fmla="val 4026"/>
            </a:avLst>
          </a:prstGeom>
          <a:solidFill>
            <a:srgbClr val="182130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695575"/>
            <a:ext cx="18097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962" y="2695575"/>
            <a:ext cx="26670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Team Roles &amp; Responsibilities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67000"/>
            <a:ext cx="6257032" cy="2667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Product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028950"/>
            <a:ext cx="48625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Shahzaib Ali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— Product Manager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Product vision, sprint roadmap &amp; core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657600"/>
            <a:ext cx="48625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Ali Hussain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— UI/UX Designer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Intuitive mobile &amp; desktop user experience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286250"/>
            <a:ext cx="48625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  <a:defRPr sz="1300" b="1">
                <a:solidFill>
                  <a:srgbClr val="F1F5F9"/>
                </a:solidFill>
                <a:latin typeface="Inter"/>
              </a:defRPr>
            </a:pPr>
            <a:r>
              <a:t>Warda Nadeem — Lead Presenter</a:t>
            </a:r>
          </a:p>
          <a:p>
            <a:pPr>
              <a:defRPr sz="1100">
                <a:solidFill>
                  <a:srgbClr val="94A3B8"/>
                </a:solidFill>
                <a:latin typeface="Inter"/>
              </a:defRPr>
            </a:pPr>
            <a:r>
              <a:t>Project pitch, developer relations &amp; demonstration.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667000"/>
            <a:ext cx="5634037" cy="266700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Space Grotesk"/>
              </a:rPr>
              <a:t>Engineering &amp;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3028950"/>
            <a:ext cx="48625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Arfa Rehman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— Backend Developer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FastAPI server architecture &amp; vector search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3657600"/>
            <a:ext cx="48625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Zainab Faiz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— Software Developer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Dynamic React frontend features &amp; streaming client.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4286250"/>
            <a:ext cx="486251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Aqsa Sarfaraz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— Software Tester</a:t>
            </a:r>
            <a:r>
              <a:t>
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Quality assurance, test automation &amp;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700087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The Exam Prep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70008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Generic AI Hallucinations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90675"/>
            <a:ext cx="5429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Engineering students lose marks because generic LLMs hallucinate wrong formulas, guess algorithm traces, and lack course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22896"/>
            <a:ext cx="70008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Naive RAG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13421"/>
            <a:ext cx="54292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Standard RAG relies on naive keyword matching, splitting derivation steps mid-sentence across 400+ page unstructured PDFs.</a:t>
            </a:r>
          </a:p>
        </p:txBody>
      </p:sp>
      <p:pic>
        <p:nvPicPr>
          <p:cNvPr id="9" name="Picture 8" descr="01_desktop_launchp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9211" y="2905125"/>
            <a:ext cx="8613576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Space Grotesk"/>
              </a:rPr>
              <a:t>The Agentic RAG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8812" y="3724275"/>
            <a:ext cx="833437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Replacing budget retrieval with an intelligent, multi-step autonomous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62162"/>
            <a:ext cx="3524250" cy="3457575"/>
          </a:xfrm>
          <a:prstGeom prst="roundRect">
            <a:avLst>
              <a:gd name="adj" fmla="val 3305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2062162"/>
            <a:ext cx="3524250" cy="3457575"/>
          </a:xfrm>
          <a:prstGeom prst="roundRect">
            <a:avLst>
              <a:gd name="adj" fmla="val 3305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2062162"/>
            <a:ext cx="3524250" cy="3457575"/>
          </a:xfrm>
          <a:prstGeom prst="roundRect">
            <a:avLst>
              <a:gd name="adj" fmla="val 3305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35743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57437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595812"/>
            <a:ext cx="3048000" cy="485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375" y="2357437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49078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5350" y="2490787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248" y="4795837"/>
            <a:ext cx="977503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4387" y="2490787"/>
            <a:ext cx="33337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Engine Architecture - Part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081337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Agentic Query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424237"/>
            <a:ext cx="3143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Acts as an autonomous planner, classifying questions across 6 core subjects (OS, Networks, DSA, DBMS, DLD, Math) and targeted semester weeks.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81337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Confidence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4237"/>
            <a:ext cx="3143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Evaluates context score before generation. Automatically flags unverified fallback queries when evidence is insufficient.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4375" y="3081337"/>
            <a:ext cx="3857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AST-Aware Chunking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5" y="3424237"/>
            <a:ext cx="31432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Parses code and LaTeX equations using Abstract Syntax Trees so derivations and function boundaries stay intact during ingestion.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62225"/>
            <a:ext cx="3524250" cy="2457450"/>
          </a:xfrm>
          <a:prstGeom prst="roundRect">
            <a:avLst>
              <a:gd name="adj" fmla="val 4651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3875" y="2562225"/>
            <a:ext cx="3524250" cy="2457450"/>
          </a:xfrm>
          <a:prstGeom prst="roundRect">
            <a:avLst>
              <a:gd name="adj" fmla="val 4651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0" y="2562225"/>
            <a:ext cx="3524250" cy="2457450"/>
          </a:xfrm>
          <a:prstGeom prst="roundRect">
            <a:avLst>
              <a:gd name="adj" fmla="val 4651"/>
            </a:avLst>
          </a:prstGeom>
          <a:solidFill>
            <a:srgbClr val="161E2C"/>
          </a:solidFill>
          <a:ln w="9525">
            <a:solidFill>
              <a:srgbClr val="1D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85750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57500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375" y="2857500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12" y="2990850"/>
            <a:ext cx="2000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2012" y="2990850"/>
            <a:ext cx="2381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Engine Architecture - Part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58140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Peer-Grounded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924300"/>
            <a:ext cx="314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Highlights raw senior note sources with transparent similarity match percentages for full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581400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16-Week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24300"/>
            <a:ext cx="314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Structures unstructured PDF drives and notes chronologically aligned with university course rubrics.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4375" y="3581400"/>
            <a:ext cx="3857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Real-Time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4375" y="3924300"/>
            <a:ext cx="314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Delivers sub-500ms token streaming via Server-Sent Events (SSE) with live KaTeX LaTeX mathematical rendering.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0150"/>
            <a:ext cx="11049000" cy="518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Performance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32171" y="4795837"/>
            <a:ext cx="1265634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1" u="none">
                <a:solidFill>
                  <a:srgbClr val="94A3B8"/>
                </a:solidFill>
                <a:latin typeface="Plus Jakarta Sans"/>
              </a:rPr>
              <a:t>Local FastEmbed ONNX runtime delivers zero API cost and 95% faster vector retrieval compared to traditional cloud embedding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System Architecture &amp;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76450"/>
            <a:ext cx="51863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React UI (Vercel):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Handles student interaction, high-yield launchpad, and real-time KaTeX rendering.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43200"/>
            <a:ext cx="51863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FastAPI (Render):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Orchestrates Query Router, subject classification, and retrieval strategy.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09950"/>
            <a:ext cx="51863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FastEmbed &amp; pgvector: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Calculates 384-dimensional dense vectors locally in sub-10ms.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076700"/>
            <a:ext cx="51863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CBD5E1"/>
                </a:solidFill>
                <a:latin typeface="Plus Jakarta Sans"/>
              </a:rPr>
              <a:t>Confidence Verification:</a:t>
            </a:r>
            <a:r>
              <a:rPr b="0" sz="1350" i="0" u="none">
                <a:solidFill>
                  <a:srgbClr val="CBD5E1"/>
                </a:solidFill>
                <a:latin typeface="Plus Jakarta Sans"/>
              </a:rPr>
              <a:t> Routes high-confidence context to Groq Llama 3.3 70B streaming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2038350"/>
            <a:ext cx="18288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705100"/>
            <a:ext cx="18288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371850"/>
            <a:ext cx="18288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038600"/>
            <a:ext cx="18288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pic>
        <p:nvPicPr>
          <p:cNvPr id="14" name="Picture 13" descr="02_desktop_grounded_ans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82880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590800"/>
            <a:ext cx="18524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23963" y="2590800"/>
            <a:ext cx="37318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55828" y="2590800"/>
            <a:ext cx="54646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81350"/>
            <a:ext cx="18524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23963" y="3181350"/>
            <a:ext cx="37318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55828" y="3181350"/>
            <a:ext cx="54646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771900"/>
            <a:ext cx="18524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963" y="3771900"/>
            <a:ext cx="37318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5828" y="3771900"/>
            <a:ext cx="54646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362450"/>
            <a:ext cx="18524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963" y="4362450"/>
            <a:ext cx="37318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5828" y="4362450"/>
            <a:ext cx="54646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953000"/>
            <a:ext cx="185246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963" y="4953000"/>
            <a:ext cx="373186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5828" y="4953000"/>
            <a:ext cx="546467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71500" y="2033587"/>
          <a:ext cx="11048999" cy="351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52463"/>
                <a:gridCol w="3731865"/>
                <a:gridCol w="5464671"/>
              </a:tblGrid>
              <a:tr h="58578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8BDF8"/>
                          </a:solidFill>
                          <a:latin typeface="Space Grotesk"/>
                        </a:rPr>
                        <a:t>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8BDF8"/>
                          </a:solidFill>
                          <a:latin typeface="Space Grotesk"/>
                        </a:rPr>
                        <a:t>Technology Chosen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8BDF8"/>
                          </a:solidFill>
                          <a:latin typeface="Space Grotesk"/>
                        </a:rPr>
                        <a:t>Key Engineering Advantage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857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Frontend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React, TypeScript, Vite, Tailwind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Interactive responsive UI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7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Backend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FastAPI (Python) on Render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Native SSE event streaming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7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Embeddings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FastEmbed (ONNX Runtime)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384-dim dense vectors locally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7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Vector DB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PostgreSQL with pgvector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Sub-20ms cosine distance query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579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LLM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Groq Llama 3.3 70B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Real-time token stream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Technology Stack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205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Space Grotesk"/>
              </a:rPr>
              <a:t>Engineering Impact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98226" y="2838450"/>
            <a:ext cx="6697265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38BDF8"/>
                </a:solidFill>
                <a:latin typeface="Space Grotesk"/>
              </a:rPr>
              <a:t>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98226" y="3981450"/>
            <a:ext cx="669726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8FAFC"/>
                </a:solidFill>
                <a:latin typeface="Plus Jakarta Sans"/>
              </a:rPr>
              <a:t>Unverified Hallucinations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2687" y="2838450"/>
            <a:ext cx="59293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Grounded Confidence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687" y="3228975"/>
            <a:ext cx="5453062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By enforcing strict AST chunking and confidence threshold gates, CampusVault guarantees that every exam answer is directly traceable to verified senior notes and course material.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4114800"/>
            <a:ext cx="54530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Students prepare with 100% confidence, backed by verifiable citations and exact syllabus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4195762"/>
            <a:ext cx="209550" cy="209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404812" y="2424112"/>
            <a:ext cx="13001625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Space Grotesk"/>
              </a:rPr>
              <a:t>Live Demo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04812" y="3443287"/>
            <a:ext cx="13001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BD5E1"/>
                </a:solidFill>
                <a:latin typeface="Plus Jakarta Sans"/>
              </a:rPr>
              <a:t>Experience CampusVault live in your browser.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404812" y="4167187"/>
            <a:ext cx="13001625" cy="26670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ctr"/>
            <a:r>
              <a:rPr sz="1600">
                <a:solidFill>
                  <a:srgbClr val="38BDF8"/>
                </a:solidFill>
                <a:latin typeface="Inter"/>
              </a:rPr>
              <a:t>   campusvault.ilyankhan.tech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